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A3007C">
              <a:alpha val="45000"/>
            </a:srgbClr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3007C">
              <a:alpha val="35000"/>
            </a:srgbClr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005840" cy="16459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Intelligence Tool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9377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97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Competitive Data into Pricing Decisions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8288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3337560"/>
            <a:ext cx="18288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Dashboard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3337560"/>
            <a:ext cx="18288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Dashboard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Pricing &amp; Data Engineering Team  ·  Q2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We Built This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2651760" cy="54864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Spreadsheets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for competitor prices — every team had their own file.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54864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weekly collecting and comparing prices across competitors.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88720"/>
            <a:ext cx="2651760" cy="54864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Coverage Visibility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how much of the catalog was actually tracked competitively.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2651760" cy="54864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Reaction Time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identify and respond to competitor price changes.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926080"/>
            <a:ext cx="2651760" cy="54864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Quality Metrics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prices and unmapped products went completely unnoticed.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926080"/>
            <a:ext cx="5486400" cy="146304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 we couldn't answer: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29000" y="34290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competitively priced across our catalog — and where do we need to act?"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One Platform, Three Dashboards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300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2743200" cy="64008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704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15087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Commercial &amp; Leadership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9768" y="1874520"/>
            <a:ext cx="2523744" cy="41148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87452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are we doing?"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" y="2395728"/>
            <a:ext cx="91440" cy="9144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Blended PI with WoW trend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" y="2871216"/>
            <a:ext cx="91440" cy="9144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07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Per-competitor PI breakdown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" y="3346704"/>
            <a:ext cx="91440" cy="9144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826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progress by competitor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" y="3822192"/>
            <a:ext cx="91440" cy="9144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58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PI chips with drill-down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27832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1143000"/>
            <a:ext cx="2743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1704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Dashboard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15087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Managers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1874520"/>
            <a:ext cx="2523744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87452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 we act?"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55848" y="239572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Revenue-weighted subcategory treemap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28712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2807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pivot table with all competitors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55848" y="334670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32826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price editing with safety rails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55848" y="38221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2152" y="3758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offline analysis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35624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35624" y="114300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11704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Dashboard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45352" y="15087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45352" y="1874520"/>
            <a:ext cx="2523744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187452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work on today?"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2395728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worklist (tier × revenue)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63640" y="28712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9944" y="2807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review accept / reject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33467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9944" y="32826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heatmap by subcategory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63640" y="38221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9944" y="3758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progress funnels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0040" y="468172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dashboards share the same data pipeline and filter system — one source of truth.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 — The Price Index (PI)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competitive pricing, powering every number in the tool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4114800" cy="128016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= Competitor Price ÷ Breadfast Price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4114800" cy="5943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&gt; 1.0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8308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is CHEAPER than competitor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64408"/>
            <a:ext cx="411480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6440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= 1.0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32644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— same price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922776"/>
            <a:ext cx="411480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2277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&lt; 1.0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392277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is MORE EXPENSIVE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Quantity-weighted average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products. Heavier-selling items influence the index more — a product sold 1,000×/day matters more than one sold 10×/day.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only from "Used" products — confirmed mappings + fresh prices within 7 days.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160520" cy="1463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898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318211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sells Juhayna 1L for EGP 55
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sells it for EGP 50
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= 55 ÷ 50 = </a:t>
            </a:r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  ✓ BF is 10% cheaper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Coverage Funnel — From Catalog to Calculation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is only as trustworthy as the data behind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6217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621792"/>
          </a:xfrm>
          <a:prstGeom prst="rect">
            <a:avLst/>
          </a:prstGeom>
          <a:solidFill>
            <a:srgbClr val="374151">
              <a:alpha val="75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34440"/>
            <a:ext cx="438912" cy="438912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34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179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 in Catalog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4538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active product catalog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0" y="1216152"/>
            <a:ext cx="868680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121615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1783080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8229600" cy="6217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65960"/>
            <a:ext cx="6419088" cy="621792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057400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057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002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Products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2276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80% of subcategory revenue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0" y="2039112"/>
            <a:ext cx="86868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03911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2606040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8229600" cy="6217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788920"/>
            <a:ext cx="4773168" cy="621792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88036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2825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Products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3099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a competitor equivalent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80960" y="2862072"/>
            <a:ext cx="8686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286207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" y="3429000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8229600" cy="6217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11880"/>
            <a:ext cx="3456432" cy="621792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" y="370332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703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1560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Updated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1560" y="39227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BF + competitor prices ≤ 7 days old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680960" y="3685032"/>
            <a:ext cx="86868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36850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" y="4251960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8229600" cy="6217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434840"/>
            <a:ext cx="2304288" cy="621792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" y="4526280"/>
            <a:ext cx="438912" cy="438912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51560" y="4471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— Feed Blended 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51560" y="4745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+ Mapped + Updated — drives the PI number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80960" y="4507992"/>
            <a:ext cx="868680" cy="475488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450799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push as many products as possible through the funnel. More Used products = more accurate, representative PI.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— Leadership Situational Awareness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scan: overall position, trends, and coverage health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011680" cy="64008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430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9768" y="16459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+0.3% WoW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10515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051560"/>
            <a:ext cx="2011680" cy="64008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1430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78608" y="16459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7860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1,923 eligible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10515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51560"/>
            <a:ext cx="2011680" cy="64008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1430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27448" y="16459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Tracked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2744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· Carrefour · Kazyon · Spinneys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66560" y="10515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051560"/>
            <a:ext cx="2011680" cy="64008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1430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76288" y="16459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(Used)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7628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+1.2pp WoW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233172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PI Breakdown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2761488"/>
            <a:ext cx="411480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16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65960" y="2825496"/>
            <a:ext cx="6858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28254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0" y="2825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Cheaper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19125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65960" y="3255264"/>
            <a:ext cx="6858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325526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0" y="3255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Expensive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621024"/>
            <a:ext cx="411480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Kazyon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65960" y="3685032"/>
            <a:ext cx="6858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36850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0" y="3685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Cheaper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05079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05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Spinneys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65960" y="4114800"/>
            <a:ext cx="68580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0" y="41148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33172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0060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Coverage by Competitor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00600" y="27889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79008" y="2852928"/>
            <a:ext cx="2926080" cy="2377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79008" y="2852928"/>
            <a:ext cx="2282342" cy="237744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25358" y="28529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00600" y="32278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Kazyon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779008" y="3291840"/>
            <a:ext cx="2926080" cy="2377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79008" y="3291840"/>
            <a:ext cx="1784909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27925" y="32918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00600" y="366674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779008" y="3730752"/>
            <a:ext cx="2926080" cy="2377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79008" y="3730752"/>
            <a:ext cx="1228954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71970" y="3730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800600" y="41056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Spinneys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779008" y="4169664"/>
            <a:ext cx="2926080" cy="2377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79008" y="4169664"/>
            <a:ext cx="848563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91579" y="41696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4617720"/>
            <a:ext cx="160020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617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 1.03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057400" y="4617720"/>
            <a:ext cx="16002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57400" y="4617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 0.97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794760" y="4617720"/>
            <a:ext cx="160020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94760" y="4617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 1.05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532120" y="4617720"/>
            <a:ext cx="16002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32120" y="4617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 0.91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269480" y="4617720"/>
            <a:ext cx="160020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69480" y="4617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 1.11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Dashboard — The Daily Pricing Workbench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pricing managers: identify gaps, analyse subcategories, take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1627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" y="11338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" y="14996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39112" y="1097280"/>
            <a:ext cx="1627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12264" y="11338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12264" y="14996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58184" y="1097280"/>
            <a:ext cx="1627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31336" y="11338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31336" y="14996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(in PI)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77256" y="1097280"/>
            <a:ext cx="16276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50408" y="11338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50408" y="14996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Blended PI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96328" y="1097280"/>
            <a:ext cx="1627632" cy="658368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113385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14996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1874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Treemap  — Size = Revenue  ·  Color = PI Deviation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616" y="2185416"/>
            <a:ext cx="2615184" cy="115214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258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Eggs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" y="2990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54096" y="2185416"/>
            <a:ext cx="2020824" cy="115214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22585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27248" y="2990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1.05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6616" y="3419856"/>
            <a:ext cx="1792224" cy="106070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493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&amp; Chips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" y="4133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0.97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31136" y="3419856"/>
            <a:ext cx="1563624" cy="106070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04288" y="34930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Foods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04288" y="41330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0.91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77056" y="3419856"/>
            <a:ext cx="1197864" cy="106070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50208" y="349300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50208" y="41330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1.01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57800" y="109728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94960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94960" y="1508760"/>
            <a:ext cx="347472" cy="347472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06440" y="15087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Revenue-Weighted Treemap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06440" y="1719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subcategory to filter all dashboard components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94960" y="2258568"/>
            <a:ext cx="347472" cy="347472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806440" y="22585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PI Table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06440" y="2468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Per-subcategory x per-competitor breakdown with ranking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94960" y="3008376"/>
            <a:ext cx="347472" cy="347472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4960" y="3008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806440" y="30083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Funnels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06440" y="32186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mapping and staleness pipeline visualized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394960" y="3758184"/>
            <a:ext cx="347472" cy="347472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3758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04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806440" y="375818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06440" y="39684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any filtered view for offline analysis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Dashboard — Product Pivot 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· every competitor · all in one 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8503920" cy="384048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11096" y="1143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96896" y="11430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45536" y="1143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Price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31336" y="1143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Price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17136" y="11430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PI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11496" y="1143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Pr.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97296" y="11430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PI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91656" y="1143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Kazyon Price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77456" y="11430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Kazyon PI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71816" y="1143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94760" y="1527048"/>
            <a:ext cx="1280160" cy="29992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527048"/>
            <a:ext cx="1280160" cy="299923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527048"/>
            <a:ext cx="1280160" cy="2999232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1527048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" y="15636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Full Cream 1L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11096" y="156362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96896" y="1618488"/>
            <a:ext cx="475488" cy="256032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6896" y="161848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Top+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145536" y="156362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31336" y="156362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17136" y="1618488"/>
            <a:ext cx="5029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16184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11496" y="156362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97296" y="1618488"/>
            <a:ext cx="50292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97296" y="16184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91656" y="156362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77456" y="1618488"/>
            <a:ext cx="50292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77456" y="16184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71816" y="1618488"/>
            <a:ext cx="5943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71816" y="161848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1965960"/>
            <a:ext cx="85039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" y="200253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Fine 2kg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11096" y="200253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96896" y="2057400"/>
            <a:ext cx="47548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96896" y="205740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145536" y="200253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31336" y="200253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17136" y="2057400"/>
            <a:ext cx="5029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17136" y="20574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11496" y="200253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797296" y="2057400"/>
            <a:ext cx="5029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97296" y="20574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91656" y="2002536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46.50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077456" y="2057400"/>
            <a:ext cx="5029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77456" y="20574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671816" y="2057400"/>
            <a:ext cx="5943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1816" y="2057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2404872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" y="244144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Oil 1.8L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911096" y="2441448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Afia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96896" y="2496312"/>
            <a:ext cx="475488" cy="256032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96896" y="2496312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Top+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145536" y="2441448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831336" y="2441448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17136" y="2496312"/>
            <a:ext cx="5029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17136" y="24963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11496" y="2441448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91.00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797296" y="2496312"/>
            <a:ext cx="5029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97296" y="24963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391656" y="2441448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077456" y="2496312"/>
            <a:ext cx="5029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77456" y="24963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671816" y="2496312"/>
            <a:ext cx="5943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71816" y="249631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0040" y="2843784"/>
            <a:ext cx="85039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" y="28803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Penne 500g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911096" y="288036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Barilla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596896" y="2935224"/>
            <a:ext cx="475488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96896" y="2935224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145536" y="288036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831336" y="288036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517136" y="2935224"/>
            <a:ext cx="50292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17136" y="2935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111496" y="288036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42.00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797296" y="2935224"/>
            <a:ext cx="5029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97296" y="2935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391656" y="288036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38.00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077456" y="2935224"/>
            <a:ext cx="50292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77456" y="2935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671816" y="2935224"/>
            <a:ext cx="5943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71816" y="293522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20040" y="3282696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6616" y="331927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Water 6x1.5L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911096" y="331927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596896" y="3374136"/>
            <a:ext cx="475488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96896" y="3374136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145536" y="331927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831336" y="331927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517136" y="3374136"/>
            <a:ext cx="5029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17136" y="33741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111496" y="331927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29.00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797296" y="3374136"/>
            <a:ext cx="50292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797296" y="33741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391656" y="3319272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27.50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077456" y="3374136"/>
            <a:ext cx="5029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077456" y="33741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671816" y="3374136"/>
            <a:ext cx="5943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71816" y="337413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320040" y="3721608"/>
            <a:ext cx="850392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56616" y="375818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Chicken 1kg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1911096" y="375818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Koki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2596896" y="3813048"/>
            <a:ext cx="475488" cy="256032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96896" y="381304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Top+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3145536" y="375818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3831336" y="375818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110.00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517136" y="3813048"/>
            <a:ext cx="50292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517136" y="38130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111496" y="375818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5797296" y="3813048"/>
            <a:ext cx="50292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797296" y="38130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N/M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6391656" y="375818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115.00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077456" y="3813048"/>
            <a:ext cx="50292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077456" y="38130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671816" y="3813048"/>
            <a:ext cx="59436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671816" y="38130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320040" y="4663440"/>
            <a:ext cx="1993392" cy="2011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20040" y="46634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2404872" y="4663440"/>
            <a:ext cx="1993392" cy="2011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404872" y="46634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 Needs Mapping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4489704" y="4663440"/>
            <a:ext cx="1993392" cy="2011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489704" y="46634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Review Match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6574536" y="4663440"/>
            <a:ext cx="1993392" cy="20116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574536" y="46634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Stale Price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Dashboard — The Daily Action Queue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"What should I work on today?" — sorted by business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029968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52144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Needs Action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1097280"/>
            <a:ext cx="2029968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152144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96896" y="1627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Mapping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1097280"/>
            <a:ext cx="2029968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152144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64024" y="1627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Match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1097280"/>
            <a:ext cx="2029968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1152144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31152" y="1627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Price Update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212848"/>
            <a:ext cx="493776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2768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Worklist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55117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Tier ↓  then Revenue 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4937760" cy="393192"/>
          </a:xfrm>
          <a:prstGeom prst="rect">
            <a:avLst/>
          </a:prstGeom>
          <a:solidFill>
            <a:srgbClr val="F9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2916936"/>
            <a:ext cx="228600" cy="22860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91693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8803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Full Cream 1L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99232" y="2916936"/>
            <a:ext cx="457200" cy="22860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291693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Top+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520440" y="2907792"/>
            <a:ext cx="1536192" cy="2468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90779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Mapping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246120"/>
            <a:ext cx="4937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" y="3328416"/>
            <a:ext cx="228600" cy="22860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3284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2918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Afia Cooking Oil 1.8L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99232" y="3328416"/>
            <a:ext cx="457200" cy="22860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332841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Top+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520440" y="3319272"/>
            <a:ext cx="1536192" cy="2468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331927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Match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3657600"/>
            <a:ext cx="4937760" cy="393192"/>
          </a:xfrm>
          <a:prstGeom prst="rect">
            <a:avLst/>
          </a:prstGeom>
          <a:solidFill>
            <a:srgbClr val="F9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2336" y="3739896"/>
            <a:ext cx="228600" cy="22860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37398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37033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Chicken 1kg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99232" y="3739896"/>
            <a:ext cx="457200" cy="22860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373989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Top+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520440" y="3730752"/>
            <a:ext cx="1536192" cy="24688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373075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Mapping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0040" y="4069080"/>
            <a:ext cx="49377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" y="4151376"/>
            <a:ext cx="228600" cy="22860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41513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" y="41148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Detergent Power 2kg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99232" y="4151376"/>
            <a:ext cx="45720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9232" y="41513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520440" y="4142232"/>
            <a:ext cx="1536192" cy="24688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0440" y="414223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Update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" y="4480560"/>
            <a:ext cx="4937760" cy="393192"/>
          </a:xfrm>
          <a:prstGeom prst="rect">
            <a:avLst/>
          </a:prstGeom>
          <a:solidFill>
            <a:srgbClr val="F9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2336" y="4562856"/>
            <a:ext cx="228600" cy="228600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" y="45628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76656" y="452628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Barilla Penne 500g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999232" y="4562856"/>
            <a:ext cx="45720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99232" y="45628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520440" y="4553712"/>
            <a:ext cx="1536192" cy="24688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20440" y="455371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Update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440680" y="2212848"/>
            <a:ext cx="3383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577840" y="22768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Heatmap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144768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0-7d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638544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7-14d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132320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14-21d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626096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21-30d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119872" y="2578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30d+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468112" y="283464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44768" y="2834640"/>
            <a:ext cx="4572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44768" y="2834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638544" y="2834640"/>
            <a:ext cx="457200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38544" y="2834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132320" y="2834640"/>
            <a:ext cx="4572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32320" y="2834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626096" y="2834640"/>
            <a:ext cx="45720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19872" y="2834640"/>
            <a:ext cx="457200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19872" y="2834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68112" y="326440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144768" y="3264408"/>
            <a:ext cx="4572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44768" y="32644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638544" y="3264408"/>
            <a:ext cx="457200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38544" y="32644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132320" y="3264408"/>
            <a:ext cx="457200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32320" y="32644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626096" y="3264408"/>
            <a:ext cx="4572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26096" y="32644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119872" y="3264408"/>
            <a:ext cx="4572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19872" y="32644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468112" y="3694176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144768" y="3694176"/>
            <a:ext cx="457200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44768" y="36941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638544" y="3694176"/>
            <a:ext cx="457200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38544" y="36941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132320" y="3694176"/>
            <a:ext cx="457200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32320" y="36941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626096" y="3694176"/>
            <a:ext cx="457200" cy="347472"/>
          </a:xfrm>
          <a:prstGeom prst="rect">
            <a:avLst/>
          </a:prstGeom>
          <a:solidFill>
            <a:srgbClr val="FCD34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26096" y="36941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8119872" y="3694176"/>
            <a:ext cx="457200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19872" y="36941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468112" y="4123944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144768" y="4123944"/>
            <a:ext cx="4572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44768" y="41239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638544" y="4123944"/>
            <a:ext cx="457200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638544" y="41239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7132320" y="4123944"/>
            <a:ext cx="4572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132320" y="41239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7626096" y="4123944"/>
            <a:ext cx="4572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626096" y="41239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8119872" y="4123944"/>
            <a:ext cx="4572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119872" y="41239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Multi-Competitor Support — Beyond Single-File Tracking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all competitors, side-by-side in a single 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3749040" cy="3520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43000"/>
            <a:ext cx="37490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Manual Spreadsheets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83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BF vs Talabat.xlsx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41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BF vs Carrefour.xlsx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99816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998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BF vs Kazyon.xlsx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758184"/>
            <a:ext cx="3383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5818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BF vs Spinneys.xlsx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separate files · no cross-competitor view · manual updates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60520" y="2560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074920" y="1143000"/>
            <a:ext cx="3749040" cy="35204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1143000"/>
            <a:ext cx="374904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1704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Unified Platform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30368" y="180136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product pivot table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30368" y="232257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23225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competitors side-by-side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30368" y="28437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843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2825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competitor visibility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3346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PI per competitor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30368" y="38862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886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0" y="3867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export in seconds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4434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· real-time · auto-updated daily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Filtering System — Filter Once, Explore Everywhere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global state across all three dashboards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97280"/>
            <a:ext cx="8503920" cy="73152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52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0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FILTERS ]  Global Filters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1463040"/>
            <a:ext cx="13167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74520" y="1463040"/>
            <a:ext cx="13167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Subcategories 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73552" y="1463040"/>
            <a:ext cx="13167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463040"/>
            <a:ext cx="13167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71616" y="1463040"/>
            <a:ext cx="13167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70648" y="1463040"/>
            <a:ext cx="13167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0648" y="1463040"/>
            <a:ext cx="1316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1901952"/>
            <a:ext cx="1005840" cy="256032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1901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×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591056" y="1901952"/>
            <a:ext cx="1005840" cy="256032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91056" y="1901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Top+ ×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06624" y="1901952"/>
            <a:ext cx="1005840" cy="256032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6624" y="1901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3317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331720"/>
            <a:ext cx="64008" cy="9601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6 Multi-Select Filters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" y="26974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Subcategory, Tier, Action, Brand, Competitor — each with search and select-all.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82112" y="23317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82112" y="2331720"/>
            <a:ext cx="64008" cy="9601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Private Label Toggle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28416" y="26974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include/exclude Breadfast own-brand products from all calculations.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35040" y="23317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2331720"/>
            <a:ext cx="64008" cy="9601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Saved Views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81344" y="26974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built-in presets + unlimited custom named views persisted in the browser.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49300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493008"/>
            <a:ext cx="64008" cy="9601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URL Link Sharing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" y="38587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current filter state as a shareable URL to collaborate with teammates.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82112" y="349300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82112" y="3493008"/>
            <a:ext cx="64008" cy="9601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28416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Keyboard Accessible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28416" y="38587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keys, Enter, Escape — fully WCAG-compliant for accessibility.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35040" y="349300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35040" y="3493008"/>
            <a:ext cx="64008" cy="9601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1344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Global State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81344" y="38587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apply simultaneously across Executive, Commercial and Master Data dashboards.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— From BigQuery to Browser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design for sub-second API responses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31720" y="1581912"/>
            <a:ext cx="118872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3807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32120" y="1581912"/>
            <a:ext cx="1188720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3807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1188720"/>
            <a:ext cx="201168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188720"/>
            <a:ext cx="201168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2252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15727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pricing data · dbt pipeline runs daily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20440" y="1188720"/>
            <a:ext cx="201168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18872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2252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Pandas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15727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DataFrame · loaded at startup (~10s) · sub-second queries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1188720"/>
            <a:ext cx="2103120" cy="1005840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188720"/>
            <a:ext cx="2103120" cy="329184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2252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Pinia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15727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state · ECharts visualizations · TanStack pivot table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2377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697480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697480"/>
            <a:ext cx="23317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/api/executive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2697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per-competitor PI, coverage progress, category chips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081528"/>
            <a:ext cx="8503920" cy="365760"/>
          </a:xfrm>
          <a:prstGeom prst="rect">
            <a:avLst/>
          </a:prstGeom>
          <a:solidFill>
            <a:srgbClr val="F9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081528"/>
            <a:ext cx="233172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815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/api/commercial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3081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data, subcategory PI table, product pivot with filter support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465576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465576"/>
            <a:ext cx="23317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4655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/api/master-data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0" y="34655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queue, worklist, AI match review, staleness heatmap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849624"/>
            <a:ext cx="8503920" cy="365760"/>
          </a:xfrm>
          <a:prstGeom prst="rect">
            <a:avLst/>
          </a:prstGeom>
          <a:solidFill>
            <a:srgbClr val="F9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849624"/>
            <a:ext cx="2331720" cy="365760"/>
          </a:xfrm>
          <a:prstGeom prst="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8496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/api/filters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0" y="38496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 options (categories, brands, tiers) — cached 15 min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233672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233672"/>
            <a:ext cx="23317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233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/api/reload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0" y="4233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full data reload from BigQuery — manual refresh endpoint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46360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decisions:  In-memory data (no per-request BigQuery queries) · sub-second responses · Google OAuth JWT · Filter options cached 15 min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 Philosophy — Built for Speed and Clarity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only valuable if people actually use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347472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7160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" y="12070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0664" y="149961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performance — page structure appears instantly while data loads in the background.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82112" y="111556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115568"/>
            <a:ext cx="347472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37160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02736" y="12070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02736" y="149961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on desktop and tablet. Filter bar collapses gracefully on smaller screens.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11556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115568"/>
            <a:ext cx="347472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37160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55664" y="12070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55664" y="149961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scanning: green = competitive, yellow = parity, red = needs attention.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3317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331720"/>
            <a:ext cx="347472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8775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" y="242316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Columns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0664" y="27157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 stays visible while scrolling horizontally across competitor columns in the pivot table.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82112" y="23317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82112" y="2331720"/>
            <a:ext cx="347472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82112" y="258775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02736" y="242316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Headers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02736" y="27157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headers and product columns remain visible throughout long table scrolling.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23317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2331720"/>
            <a:ext cx="347472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58775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55664" y="242316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Badges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55664" y="27157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(confirmed) / Needs Mapping / Review Match / Stale — instant status at a glance.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3547872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547872"/>
            <a:ext cx="347472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80390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0664" y="363931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Panel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0664" y="39319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glossary on every page — no guessing what metrics mean.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82112" y="3547872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182112" y="3547872"/>
            <a:ext cx="347472" cy="9601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380390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602736" y="363931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Tints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02736" y="39319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competitor column tracking in wide pivot tables with subtle background tinting.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0040" y="46360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language: clean modern SaaS aesthetic with Breadfast magenta (#a3007c) as the primary accent · Font: Calibri / Inter · Icons: Lucide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— Measurable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342900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8912" y="138074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identify pricing gaps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94760" y="130759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07408" y="1143000"/>
            <a:ext cx="361188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1887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26280" y="138074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identify pricing gaps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38160" y="1362456"/>
            <a:ext cx="658368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36245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0040" y="2020824"/>
            <a:ext cx="342900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0665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38912" y="22585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per competitor, updated inconsistently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185416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407408" y="2020824"/>
            <a:ext cx="361188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066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26280" y="22585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all competitors in one unified real-time 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38160" y="2240280"/>
            <a:ext cx="658368" cy="310896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24028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0040" y="2898648"/>
            <a:ext cx="342900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9443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8912" y="313639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 of data quality tasks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94760" y="3063240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407408" y="2898648"/>
            <a:ext cx="361188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9443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26280" y="31363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× revenue weighted daily worklist — work on what matters first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38160" y="3118104"/>
            <a:ext cx="658368" cy="310896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311810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" y="3776472"/>
            <a:ext cx="342900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8221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38912" y="401421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coverage gaps — no visibility into what's tracked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94760" y="3941064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407408" y="3776472"/>
            <a:ext cx="361188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38221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26280" y="401421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funnel with measurable targets and weekly trending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38160" y="3995928"/>
            <a:ext cx="658368" cy="310896"/>
          </a:xfrm>
          <a:prstGeom prst="rect">
            <a:avLst/>
          </a:prstGeom>
          <a:solidFill>
            <a:srgbClr val="F3E8F0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399592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0040" y="46634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redundant manual competitor price collection — freeing analyst time for higher-value interpretation and action.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54864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 — Where We're Going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3E8F0"/>
          </a:solidFill>
          <a:ln w="12700">
            <a:solidFill>
              <a:srgbClr val="F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Breadfast Pricing Intelligence Tool  ·  Q2 2026  ·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4864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0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43000"/>
            <a:ext cx="2743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8872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Live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80136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0664" y="176479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Multi-competitor product pivot table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239572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0664" y="23591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BF price editing with safety rails (&gt;10% confirmation)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" y="299008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9900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0664" y="295351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views &amp; shareable URL filter state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" y="358444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5844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0664" y="354787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heatmap &amp; priority worklist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" y="417880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41788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0664" y="414223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+ JWT authentication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114300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114300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18872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In Progress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92424" y="180136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48456" y="176479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PI trend analysis (30/60/90 day)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92424" y="239572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48456" y="23591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 automated alerts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92424" y="299008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29900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48456" y="295351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auto-approval workflow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92424" y="358444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2424" y="35844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48456" y="354787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drill-down page with full history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35624" y="114300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300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35624" y="1143000"/>
            <a:ext cx="2743200" cy="502920"/>
          </a:xfrm>
          <a:prstGeom prst="rect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5352" y="118872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Planned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0216" y="1801368"/>
            <a:ext cx="201168" cy="201168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0216" y="1801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56248" y="176479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competitor onboarding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0216" y="2395728"/>
            <a:ext cx="201168" cy="201168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0216" y="2395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56248" y="235915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Mobile-optimised views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0216" y="2990088"/>
            <a:ext cx="201168" cy="201168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0216" y="29900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56248" y="295351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recommendation engine (ML-driven)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0216" y="3584448"/>
            <a:ext cx="201168" cy="201168"/>
          </a:xfrm>
          <a:prstGeom prst="ellipse">
            <a:avLst/>
          </a:prstGeom>
          <a:solidFill>
            <a:srgbClr val="A3007C"/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0216" y="35844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56248" y="354787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preferences &amp; Slack integration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20040" y="481888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note: Historical PI trend charts and WoW delta badges are implemented — awaiting dbt daily snapshots.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A0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A3007C">
              <a:alpha val="45000"/>
            </a:srgbClr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A3007C">
              <a:alpha val="35000"/>
            </a:srgbClr>
          </a:solidFill>
          <a:ln w="12700">
            <a:solidFill>
              <a:srgbClr val="A300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32004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Intelligence Tool  ·  Turning Competitive Data into Pricing Decisions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965960" cy="4572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Pinia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926080"/>
            <a:ext cx="1965960" cy="4572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926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Pandas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1965960" cy="4572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926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+ dbt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2926080"/>
            <a:ext cx="1965960" cy="4572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926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Mohamed ElGohary · Pricing &amp; Data Engineering Team · Q2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Breadfast Pricing Intelligence Tool</dc:title>
  <dc:subject>PptxGenJS Presentation</dc:subject>
  <dc:creator>Mohamed ElGohary</dc:creator>
  <cp:lastModifiedBy>Mohamed ElGohary</cp:lastModifiedBy>
  <cp:revision>1</cp:revision>
  <dcterms:created xsi:type="dcterms:W3CDTF">2026-04-09T12:03:10Z</dcterms:created>
  <dcterms:modified xsi:type="dcterms:W3CDTF">2026-04-09T12:03:10Z</dcterms:modified>
</cp:coreProperties>
</file>